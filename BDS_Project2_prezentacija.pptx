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7"/>
  </p:notesMasterIdLst>
  <p:handoutMasterIdLst>
    <p:handoutMasterId r:id="rId18"/>
  </p:handoutMasterIdLst>
  <p:sldIdLst>
    <p:sldId id="257" r:id="rId5"/>
    <p:sldId id="268" r:id="rId6"/>
    <p:sldId id="272" r:id="rId7"/>
    <p:sldId id="273" r:id="rId8"/>
    <p:sldId id="276" r:id="rId9"/>
    <p:sldId id="277" r:id="rId10"/>
    <p:sldId id="279" r:id="rId11"/>
    <p:sldId id="280" r:id="rId12"/>
    <p:sldId id="274" r:id="rId13"/>
    <p:sldId id="275" r:id="rId14"/>
    <p:sldId id="282" r:id="rId15"/>
    <p:sldId id="283" r:id="rId16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>
      <p:cViewPr varScale="1">
        <p:scale>
          <a:sx n="114" d="100"/>
          <a:sy n="114" d="100"/>
        </p:scale>
        <p:origin x="474" y="10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11/18/2025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11/18/2025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slow">
    <p:push dir="u"/>
  </p:transition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12" y="1434663"/>
            <a:ext cx="9601199" cy="2000251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Big Data Systems</a:t>
            </a:r>
            <a:endParaRPr lang="en-US" dirty="0">
              <a:solidFill>
                <a:schemeClr val="bg2">
                  <a:lumMod val="75000"/>
                </a:schemeClr>
              </a:solidFill>
              <a:cs typeface="Times New Roman" panose="02020603050405020304" pitchFamily="18" charset="0"/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307463" y="4558447"/>
            <a:ext cx="9587548" cy="1752600"/>
          </a:xfrm>
        </p:spPr>
        <p:txBody>
          <a:bodyPr/>
          <a:lstStyle/>
          <a:p>
            <a:pPr algn="ctr"/>
            <a:r>
              <a:rPr lang="en-US" dirty="0"/>
              <a:t>student: Katarina </a:t>
            </a:r>
            <a:r>
              <a:rPr lang="en-US" dirty="0" err="1"/>
              <a:t>marinovi</a:t>
            </a:r>
            <a:r>
              <a:rPr lang="sr-Latn-RS" dirty="0"/>
              <a:t>ć</a:t>
            </a:r>
          </a:p>
          <a:p>
            <a:pPr algn="ctr"/>
            <a:r>
              <a:rPr lang="sr-Latn-RS" dirty="0"/>
              <a:t>Broj indeksa: 1633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F375-BE85-4EA4-8C5F-D52D11F5F582}"/>
              </a:ext>
            </a:extLst>
          </p:cNvPr>
          <p:cNvSpPr txBox="1"/>
          <p:nvPr/>
        </p:nvSpPr>
        <p:spPr>
          <a:xfrm>
            <a:off x="1307463" y="3581400"/>
            <a:ext cx="96011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sr-Latn-RS" sz="4000" b="0" i="0" u="none" strike="noStrike" kern="1200" cap="none" spc="0" normalizeH="0" baseline="0" noProof="0" dirty="0">
                <a:ln>
                  <a:noFill/>
                </a:ln>
                <a:solidFill>
                  <a:srgbClr val="192A52">
                    <a:lumMod val="75000"/>
                  </a:srgbClr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Project 1 – Big Mobility &amp; IoT Data Analytics </a:t>
            </a:r>
            <a:endParaRPr lang="en-US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1FCBFA-7886-44C3-A457-5C4E07C9F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942" y="563743"/>
            <a:ext cx="1572904" cy="1585097"/>
          </a:xfrm>
          <a:prstGeom prst="rect">
            <a:avLst/>
          </a:prstGeom>
        </p:spPr>
      </p:pic>
      <p:pic>
        <p:nvPicPr>
          <p:cNvPr id="7" name="image1.png">
            <a:extLst>
              <a:ext uri="{FF2B5EF4-FFF2-40B4-BE49-F238E27FC236}">
                <a16:creationId xmlns:a16="http://schemas.microsoft.com/office/drawing/2014/main" id="{E628B70A-DD92-4669-B883-AC68CE0CDB7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584013" y="546953"/>
            <a:ext cx="1585870" cy="161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Tehnologije korišćene u projektu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Apache Spark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Docker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Kafka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Cassandra</a:t>
            </a:r>
          </a:p>
          <a:p>
            <a:r>
              <a:rPr lang="en-US" dirty="0" err="1">
                <a:solidFill>
                  <a:schemeClr val="bg2">
                    <a:lumMod val="75000"/>
                  </a:schemeClr>
                </a:solidFill>
              </a:rPr>
              <a:t>Flink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D481E-7AC4-480E-BCED-1CF2BE895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9702" y="4616667"/>
            <a:ext cx="2139431" cy="17971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BF5657-7AB0-4F04-82B4-35F3B4A69B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602" b="28996"/>
          <a:stretch/>
        </p:blipFill>
        <p:spPr>
          <a:xfrm>
            <a:off x="7846298" y="1223287"/>
            <a:ext cx="3505914" cy="16997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C20DC7-CBF2-4E41-9E94-189524A31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3298" y="3197817"/>
            <a:ext cx="2286000" cy="11456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0F3A1B-1367-481C-8B67-BD476BB8BF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8012" y="4747513"/>
            <a:ext cx="2286000" cy="15354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2D4D69F-27E3-4097-8E14-CBE98D5975B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6345" t="18525" r="22352" b="19299"/>
          <a:stretch/>
        </p:blipFill>
        <p:spPr>
          <a:xfrm>
            <a:off x="4245530" y="2016232"/>
            <a:ext cx="1883691" cy="1412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6C265-BCA4-49AE-B0B5-136274C38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8882" y="0"/>
            <a:ext cx="10360501" cy="1223963"/>
          </a:xfrm>
        </p:spPr>
        <p:txBody>
          <a:bodyPr/>
          <a:lstStyle/>
          <a:p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Korišćeni skupovi podataka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37E8C-092D-4520-B228-88E353A64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5869" y="1371600"/>
            <a:ext cx="10360501" cy="4462272"/>
          </a:xfrm>
        </p:spPr>
        <p:txBody>
          <a:bodyPr/>
          <a:lstStyle/>
          <a:p>
            <a:pPr marL="0" indent="0" algn="just">
              <a:buNone/>
            </a:pPr>
            <a:r>
              <a:rPr lang="en-US" dirty="0" err="1">
                <a:solidFill>
                  <a:schemeClr val="bg2">
                    <a:lumMod val="75000"/>
                  </a:schemeClr>
                </a:solidFill>
              </a:rPr>
              <a:t>Uz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2">
                    <a:lumMod val="75000"/>
                  </a:schemeClr>
                </a:solidFill>
              </a:rPr>
              <a:t>pomo</a:t>
            </a:r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ć SUMO simulatora kreirana su dva skupa (</a:t>
            </a:r>
            <a:r>
              <a:rPr lang="sr-Latn-RS" i="1" dirty="0">
                <a:solidFill>
                  <a:schemeClr val="bg2">
                    <a:lumMod val="75000"/>
                  </a:schemeClr>
                </a:solidFill>
              </a:rPr>
              <a:t>fcd1.csv </a:t>
            </a:r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i </a:t>
            </a:r>
            <a:r>
              <a:rPr lang="sr-Latn-RS" i="1" dirty="0">
                <a:solidFill>
                  <a:schemeClr val="bg2">
                    <a:lumMod val="75000"/>
                  </a:schemeClr>
                </a:solidFill>
              </a:rPr>
              <a:t>emission1.csv</a:t>
            </a:r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) podataka koja se odnose na kretanje vozila, kao i na informacije o izduvnim gasovima u Beču.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BA85D9-0202-48DF-8BD6-06C60B30FE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" t="14435" r="-4" b="6656"/>
          <a:stretch/>
        </p:blipFill>
        <p:spPr>
          <a:xfrm>
            <a:off x="2188212" y="2743200"/>
            <a:ext cx="8754744" cy="3885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94346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4ADEC-6587-4158-B6CB-A1E0DC870D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5062" y="680771"/>
            <a:ext cx="10360501" cy="609600"/>
          </a:xfrm>
        </p:spPr>
        <p:txBody>
          <a:bodyPr/>
          <a:lstStyle/>
          <a:p>
            <a:r>
              <a:rPr lang="en-US" dirty="0" err="1">
                <a:solidFill>
                  <a:schemeClr val="bg2">
                    <a:lumMod val="75000"/>
                  </a:schemeClr>
                </a:solidFill>
              </a:rPr>
              <a:t>Organizacija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bg2">
                    <a:lumMod val="75000"/>
                  </a:schemeClr>
                </a:solidFill>
              </a:rPr>
              <a:t>kontejnera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E73AE2-1E48-46FE-9B7A-D13F77967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93" y="1828800"/>
            <a:ext cx="11849638" cy="408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3204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7705-93D4-4644-B808-E801126A52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012" y="228600"/>
            <a:ext cx="10360501" cy="431803"/>
          </a:xfrm>
        </p:spPr>
        <p:txBody>
          <a:bodyPr>
            <a:noAutofit/>
          </a:bodyPr>
          <a:lstStyle/>
          <a:p>
            <a:r>
              <a:rPr lang="en-US" sz="2400" dirty="0" err="1">
                <a:solidFill>
                  <a:schemeClr val="bg2">
                    <a:lumMod val="75000"/>
                  </a:schemeClr>
                </a:solidFill>
              </a:rPr>
              <a:t>Skripta</a:t>
            </a:r>
            <a:r>
              <a:rPr lang="en-US" sz="2400" dirty="0">
                <a:solidFill>
                  <a:schemeClr val="bg2">
                    <a:lumMod val="75000"/>
                  </a:schemeClr>
                </a:solidFill>
              </a:rPr>
              <a:t> producer.py </a:t>
            </a:r>
            <a:r>
              <a:rPr lang="sr-Cyrl-RS" sz="2400" dirty="0">
                <a:solidFill>
                  <a:schemeClr val="bg2">
                    <a:lumMod val="75000"/>
                  </a:schemeClr>
                </a:solidFill>
              </a:rPr>
              <a:t> </a:t>
            </a:r>
            <a:r>
              <a:rPr lang="sr-Latn-RS" sz="2400" dirty="0">
                <a:solidFill>
                  <a:schemeClr val="bg2">
                    <a:lumMod val="75000"/>
                  </a:schemeClr>
                </a:solidFill>
              </a:rPr>
              <a:t>čita podatke sa lokalnog fajl sistema i šalje ih na odgovarajući topic (</a:t>
            </a:r>
            <a:r>
              <a:rPr lang="sr-Latn-RS" sz="2400" i="1" dirty="0">
                <a:solidFill>
                  <a:schemeClr val="bg2">
                    <a:lumMod val="75000"/>
                  </a:schemeClr>
                </a:solidFill>
              </a:rPr>
              <a:t>fcd_topic </a:t>
            </a:r>
            <a:r>
              <a:rPr lang="sr-Latn-RS" sz="2400" dirty="0">
                <a:solidFill>
                  <a:schemeClr val="bg2">
                    <a:lumMod val="75000"/>
                  </a:schemeClr>
                </a:solidFill>
              </a:rPr>
              <a:t>i </a:t>
            </a:r>
            <a:r>
              <a:rPr lang="sr-Latn-RS" sz="2400" i="1" dirty="0">
                <a:solidFill>
                  <a:schemeClr val="bg2">
                    <a:lumMod val="75000"/>
                  </a:schemeClr>
                </a:solidFill>
              </a:rPr>
              <a:t>emission_topic</a:t>
            </a:r>
            <a:r>
              <a:rPr lang="sr-Latn-RS" sz="2400" dirty="0">
                <a:solidFill>
                  <a:schemeClr val="bg2">
                    <a:lumMod val="75000"/>
                  </a:schemeClr>
                </a:solidFill>
              </a:rPr>
              <a:t>)</a:t>
            </a:r>
            <a:endParaRPr lang="en-US" sz="24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036B9-7F0E-4126-A4A3-5CF858B9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13" y="1905000"/>
            <a:ext cx="5943600" cy="45388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055110-AA9C-41EE-9E48-A93D9001B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021" y="1905000"/>
            <a:ext cx="5715000" cy="4349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51631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F9C44-8C89-4342-9898-B3B682387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012" y="304800"/>
            <a:ext cx="10360501" cy="685800"/>
          </a:xfrm>
        </p:spPr>
        <p:txBody>
          <a:bodyPr>
            <a:normAutofit/>
          </a:bodyPr>
          <a:lstStyle/>
          <a:p>
            <a:r>
              <a:rPr lang="sr-Latn-RS" sz="2000" dirty="0">
                <a:solidFill>
                  <a:schemeClr val="bg2">
                    <a:lumMod val="75000"/>
                  </a:schemeClr>
                </a:solidFill>
              </a:rPr>
              <a:t>Sa </a:t>
            </a:r>
            <a:r>
              <a:rPr lang="sr-Latn-RS" sz="2000" i="1" dirty="0">
                <a:solidFill>
                  <a:schemeClr val="bg2">
                    <a:lumMod val="75000"/>
                  </a:schemeClr>
                </a:solidFill>
              </a:rPr>
              <a:t>fcd_topic</a:t>
            </a:r>
            <a:r>
              <a:rPr lang="sr-Latn-RS" sz="2000" dirty="0">
                <a:solidFill>
                  <a:schemeClr val="bg2">
                    <a:lumMod val="75000"/>
                  </a:schemeClr>
                </a:solidFill>
              </a:rPr>
              <a:t>-a se učitavaju podaci, vrši se njihovo grupisanje i agregacija po vremenskim prozorima i račuana se broj jedinstvenih vozila po ulici u svakom intervalu od 10 minuta 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7E346E-74EA-4154-B030-631E6B091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12" y="1066800"/>
            <a:ext cx="7377546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16557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F9C44-8C89-4342-9898-B3B682387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012" y="228600"/>
            <a:ext cx="10360501" cy="762000"/>
          </a:xfrm>
        </p:spPr>
        <p:txBody>
          <a:bodyPr>
            <a:normAutofit fontScale="92500" lnSpcReduction="20000"/>
          </a:bodyPr>
          <a:lstStyle/>
          <a:p>
            <a:r>
              <a:rPr lang="sr-Latn-RS" sz="2000" dirty="0">
                <a:solidFill>
                  <a:schemeClr val="bg2">
                    <a:lumMod val="75000"/>
                  </a:schemeClr>
                </a:solidFill>
              </a:rPr>
              <a:t>Sa </a:t>
            </a:r>
            <a:r>
              <a:rPr lang="sr-Latn-RS" sz="2000" i="1" dirty="0">
                <a:solidFill>
                  <a:schemeClr val="bg2">
                    <a:lumMod val="75000"/>
                  </a:schemeClr>
                </a:solidFill>
              </a:rPr>
              <a:t>emission_topic</a:t>
            </a:r>
            <a:r>
              <a:rPr lang="sr-Latn-RS" sz="2000" dirty="0">
                <a:solidFill>
                  <a:schemeClr val="bg2">
                    <a:lumMod val="75000"/>
                  </a:schemeClr>
                </a:solidFill>
              </a:rPr>
              <a:t>-a se učitavaju podaci, grupišu se po vremenskim prozorima od po 5 minuta i računaju minimalne, maksimalne i prosečne vrednosti emisije zagađivača za ulicu zadatu kao parametar u okviru Dockerfile-a 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9385ED-C15E-4099-B35F-74871FEBA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7012" y="1371600"/>
            <a:ext cx="3657600" cy="53201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DC1BE6-20D9-4D5B-A5AB-3AAA2A7F3E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12" y="1371600"/>
            <a:ext cx="7086600" cy="54545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AAF7F2-7E87-4549-A346-C89F9981B4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808" y="1371600"/>
            <a:ext cx="2172003" cy="190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15163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F9C44-8C89-4342-9898-B3B682387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012" y="304800"/>
            <a:ext cx="10360501" cy="685800"/>
          </a:xfrm>
        </p:spPr>
        <p:txBody>
          <a:bodyPr>
            <a:normAutofit/>
          </a:bodyPr>
          <a:lstStyle/>
          <a:p>
            <a:r>
              <a:rPr lang="sr-Latn-RS" sz="2000" dirty="0">
                <a:solidFill>
                  <a:schemeClr val="bg2">
                    <a:lumMod val="75000"/>
                  </a:schemeClr>
                </a:solidFill>
              </a:rPr>
              <a:t>Rezultati se upisuju u cassandra tabele </a:t>
            </a:r>
            <a:r>
              <a:rPr lang="sr-Latn-RS" sz="2000" i="1" dirty="0">
                <a:solidFill>
                  <a:schemeClr val="bg2">
                    <a:lumMod val="75000"/>
                  </a:schemeClr>
                </a:solidFill>
              </a:rPr>
              <a:t>vehicle_data </a:t>
            </a:r>
            <a:r>
              <a:rPr lang="sr-Latn-RS" sz="2000" dirty="0">
                <a:solidFill>
                  <a:schemeClr val="bg2">
                    <a:lumMod val="75000"/>
                  </a:schemeClr>
                </a:solidFill>
              </a:rPr>
              <a:t>i </a:t>
            </a:r>
            <a:r>
              <a:rPr lang="sr-Latn-RS" sz="2000" i="1" dirty="0">
                <a:solidFill>
                  <a:schemeClr val="bg2">
                    <a:lumMod val="75000"/>
                  </a:schemeClr>
                </a:solidFill>
              </a:rPr>
              <a:t>lane_emission_data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D928B2-D9CE-4D34-A6B1-B36DD2DDC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089" y="1104723"/>
            <a:ext cx="5010849" cy="53537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80A764-AD07-4302-905D-9E18B988C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4938" y="1052181"/>
            <a:ext cx="4134427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07008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F81B4-E67E-46D8-8DB0-3A05C4CF0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6212" y="533400"/>
            <a:ext cx="10360501" cy="542033"/>
          </a:xfrm>
        </p:spPr>
        <p:txBody>
          <a:bodyPr/>
          <a:lstStyle/>
          <a:p>
            <a:r>
              <a:rPr lang="sr-Latn-RS" i="1" dirty="0">
                <a:solidFill>
                  <a:schemeClr val="bg2">
                    <a:lumMod val="75000"/>
                  </a:schemeClr>
                </a:solidFill>
              </a:rPr>
              <a:t>vehicle_lane </a:t>
            </a:r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tabela</a:t>
            </a:r>
            <a:endParaRPr lang="en-US" i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2ECC7-2DD3-4067-AA09-D9905B928E5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900" b="27778"/>
          <a:stretch/>
        </p:blipFill>
        <p:spPr>
          <a:xfrm>
            <a:off x="1217612" y="1371600"/>
            <a:ext cx="9296400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92772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25DF6-646F-41D0-AA9F-AF74EB51F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319722"/>
            <a:ext cx="10360501" cy="518478"/>
          </a:xfrm>
        </p:spPr>
        <p:txBody>
          <a:bodyPr/>
          <a:lstStyle/>
          <a:p>
            <a:r>
              <a:rPr lang="sr-Latn-RS" i="1" dirty="0">
                <a:solidFill>
                  <a:schemeClr val="bg2">
                    <a:lumMod val="75000"/>
                  </a:schemeClr>
                </a:solidFill>
              </a:rPr>
              <a:t>lane_emission_data </a:t>
            </a:r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tabela</a:t>
            </a:r>
            <a:endParaRPr lang="en-US" i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3F1B05-71AE-4D38-AAD6-1BBA87557D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9375"/>
          <a:stretch/>
        </p:blipFill>
        <p:spPr>
          <a:xfrm>
            <a:off x="1827212" y="1143000"/>
            <a:ext cx="8454655" cy="2286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E6302C-D191-408F-BEFC-49C6F3ADE18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000"/>
          <a:stretch/>
        </p:blipFill>
        <p:spPr>
          <a:xfrm>
            <a:off x="1850092" y="3886200"/>
            <a:ext cx="8454944" cy="231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263891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90776-56FB-4CBC-8E79-F6967019E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260311"/>
            <a:ext cx="10360501" cy="660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Apache </a:t>
            </a:r>
            <a:r>
              <a:rPr lang="en-US" dirty="0" err="1">
                <a:solidFill>
                  <a:schemeClr val="bg2">
                    <a:lumMod val="75000"/>
                  </a:schemeClr>
                </a:solidFill>
              </a:rPr>
              <a:t>Flink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77763-9822-4CC6-8ECE-F3F0BBA4D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812" y="958070"/>
            <a:ext cx="11201400" cy="957069"/>
          </a:xfrm>
        </p:spPr>
        <p:txBody>
          <a:bodyPr/>
          <a:lstStyle/>
          <a:p>
            <a:r>
              <a:rPr lang="sr-Latn-RS" sz="2000" dirty="0">
                <a:solidFill>
                  <a:schemeClr val="bg2">
                    <a:lumMod val="75000"/>
                  </a:schemeClr>
                </a:solidFill>
              </a:rPr>
              <a:t>Sa </a:t>
            </a:r>
            <a:r>
              <a:rPr lang="sr-Latn-RS" sz="2000" i="1" dirty="0">
                <a:solidFill>
                  <a:schemeClr val="bg2">
                    <a:lumMod val="75000"/>
                  </a:schemeClr>
                </a:solidFill>
              </a:rPr>
              <a:t>fcd_topic</a:t>
            </a:r>
            <a:r>
              <a:rPr lang="sr-Latn-RS" sz="2000" dirty="0">
                <a:solidFill>
                  <a:schemeClr val="bg2">
                    <a:lumMod val="75000"/>
                  </a:schemeClr>
                </a:solidFill>
              </a:rPr>
              <a:t>-a se učitavaju podaci, vrši se njihovo grupisanje i agregacija po vremenskim prozorima i račuana se broj jedinstvenih vozila po ulici, kao i prosečna brzina u svakom intervalu od 10 minuta 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6D27F4-64C2-4D6F-9B98-F57A34F48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10" y="1779955"/>
            <a:ext cx="5029199" cy="48177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785402-3CAD-40F8-AEB9-ACDBC12F3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812" y="1779256"/>
            <a:ext cx="5880893" cy="5055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08414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F2A88-ECE1-4A4E-B58B-0E9BEB364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012" y="457200"/>
            <a:ext cx="10360501" cy="584203"/>
          </a:xfrm>
        </p:spPr>
        <p:txBody>
          <a:bodyPr/>
          <a:lstStyle/>
          <a:p>
            <a:r>
              <a:rPr lang="sr-Latn-RS" dirty="0">
                <a:solidFill>
                  <a:schemeClr val="bg2">
                    <a:lumMod val="75000"/>
                  </a:schemeClr>
                </a:solidFill>
              </a:rPr>
              <a:t>Rezultat izvršenja flink_streaming.py aplikacije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457C7E-6401-4CD7-94EC-AC0ADA0F5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1683" y="1524000"/>
            <a:ext cx="4115157" cy="4493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572663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1410</TotalTime>
  <Words>234</Words>
  <Application>Microsoft Office PowerPoint</Application>
  <PresentationFormat>Custom</PresentationFormat>
  <Paragraphs>22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Tech 16x9</vt:lpstr>
      <vt:lpstr>Big Data Systems</vt:lpstr>
      <vt:lpstr>Tehnologije korišćene u projektu</vt:lpstr>
      <vt:lpstr>Korišćeni skupovi podataka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Apache Flink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Katarina</dc:creator>
  <cp:lastModifiedBy>Katarina</cp:lastModifiedBy>
  <cp:revision>39</cp:revision>
  <dcterms:created xsi:type="dcterms:W3CDTF">2025-01-09T19:34:52Z</dcterms:created>
  <dcterms:modified xsi:type="dcterms:W3CDTF">2025-11-18T21:58:29Z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</Properties>
</file>