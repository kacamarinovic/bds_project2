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72" r:id="rId7"/>
    <p:sldId id="273" r:id="rId8"/>
    <p:sldId id="276" r:id="rId9"/>
    <p:sldId id="277" r:id="rId10"/>
    <p:sldId id="279" r:id="rId11"/>
    <p:sldId id="280" r:id="rId12"/>
    <p:sldId id="274" r:id="rId13"/>
    <p:sldId id="275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4" d="100"/>
          <a:sy n="114" d="100"/>
        </p:scale>
        <p:origin x="474" y="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10/29/2025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2" y="1434663"/>
            <a:ext cx="9601199" cy="200025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Big Data Systems</a:t>
            </a:r>
            <a:endParaRPr lang="en-US" dirty="0">
              <a:solidFill>
                <a:schemeClr val="bg2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07463" y="4558447"/>
            <a:ext cx="9587548" cy="1752600"/>
          </a:xfrm>
        </p:spPr>
        <p:txBody>
          <a:bodyPr/>
          <a:lstStyle/>
          <a:p>
            <a:pPr algn="ctr"/>
            <a:r>
              <a:rPr lang="en-US" dirty="0"/>
              <a:t>student: Katarina </a:t>
            </a:r>
            <a:r>
              <a:rPr lang="en-US" dirty="0" err="1"/>
              <a:t>marinovi</a:t>
            </a:r>
            <a:r>
              <a:rPr lang="sr-Latn-RS" dirty="0"/>
              <a:t>ć</a:t>
            </a:r>
          </a:p>
          <a:p>
            <a:pPr algn="ctr"/>
            <a:r>
              <a:rPr lang="sr-Latn-RS" dirty="0"/>
              <a:t>Broj indeksa: 1633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CF375-BE85-4EA4-8C5F-D52D11F5F582}"/>
              </a:ext>
            </a:extLst>
          </p:cNvPr>
          <p:cNvSpPr txBox="1"/>
          <p:nvPr/>
        </p:nvSpPr>
        <p:spPr>
          <a:xfrm>
            <a:off x="1307463" y="3581400"/>
            <a:ext cx="96011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sr-Latn-RS" sz="4000" b="0" i="0" u="none" strike="noStrike" kern="1200" cap="none" spc="0" normalizeH="0" baseline="0" noProof="0" dirty="0">
                <a:ln>
                  <a:noFill/>
                </a:ln>
                <a:solidFill>
                  <a:srgbClr val="192A52">
                    <a:lumMod val="75000"/>
                  </a:srgbClr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Project 1 – Big Mobility &amp; IoT Data Analytics 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1FCBFA-7886-44C3-A457-5C4E07C9F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42" y="563743"/>
            <a:ext cx="1572904" cy="1585097"/>
          </a:xfrm>
          <a:prstGeom prst="rect">
            <a:avLst/>
          </a:prstGeom>
        </p:spPr>
      </p:pic>
      <p:pic>
        <p:nvPicPr>
          <p:cNvPr id="7" name="image1.png">
            <a:extLst>
              <a:ext uri="{FF2B5EF4-FFF2-40B4-BE49-F238E27FC236}">
                <a16:creationId xmlns:a16="http://schemas.microsoft.com/office/drawing/2014/main" id="{E628B70A-DD92-4669-B883-AC68CE0CDB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4013" y="546953"/>
            <a:ext cx="1585870" cy="161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Tehnologije korišćene u projektu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Apache Spark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Docker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Kafka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Cassandra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2D481E-7AC4-480E-BCED-1CF2BE895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381" y="4343482"/>
            <a:ext cx="2409268" cy="2023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BF5657-7AB0-4F04-82B4-35F3B4A69B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02" b="28996"/>
          <a:stretch/>
        </p:blipFill>
        <p:spPr>
          <a:xfrm>
            <a:off x="7846298" y="1038221"/>
            <a:ext cx="3887628" cy="18848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20DC7-CBF2-4E41-9E94-189524A31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341" y="2864618"/>
            <a:ext cx="2615411" cy="1310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0F3A1B-1367-481C-8B67-BD476BB8B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542" y="4326310"/>
            <a:ext cx="2819400" cy="189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C265-BCA4-49AE-B0B5-136274C3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" y="0"/>
            <a:ext cx="10360501" cy="1223963"/>
          </a:xfrm>
        </p:spPr>
        <p:txBody>
          <a:bodyPr/>
          <a:lstStyle/>
          <a:p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Korišćeni skupovi podataka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37E8C-092D-4520-B228-88E353A64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869" y="1371600"/>
            <a:ext cx="10360501" cy="446227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Uz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pomo</a:t>
            </a:r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ć SUMO simulatora kreirana su dva skupa (</a:t>
            </a:r>
            <a:r>
              <a:rPr lang="sr-Latn-RS" i="1" dirty="0">
                <a:solidFill>
                  <a:schemeClr val="bg2">
                    <a:lumMod val="75000"/>
                  </a:schemeClr>
                </a:solidFill>
              </a:rPr>
              <a:t>fcd1.csv </a:t>
            </a:r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i </a:t>
            </a:r>
            <a:r>
              <a:rPr lang="sr-Latn-RS" i="1" dirty="0">
                <a:solidFill>
                  <a:schemeClr val="bg2">
                    <a:lumMod val="75000"/>
                  </a:schemeClr>
                </a:solidFill>
              </a:rPr>
              <a:t>emission1.csv</a:t>
            </a:r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) podataka koja se odnose na kretanje vozila, kao i na informacije o izduvnim gasovima u Beču.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BA85D9-0202-48DF-8BD6-06C60B30FE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" t="14435" r="-4" b="6656"/>
          <a:stretch/>
        </p:blipFill>
        <p:spPr>
          <a:xfrm>
            <a:off x="2188212" y="2743200"/>
            <a:ext cx="8754744" cy="38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4346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4ADEC-6587-4158-B6CB-A1E0DC870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062" y="680771"/>
            <a:ext cx="10360501" cy="609600"/>
          </a:xfrm>
        </p:spPr>
        <p:txBody>
          <a:bodyPr/>
          <a:lstStyle/>
          <a:p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Organizacija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kontejnera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893A87-93CF-41A5-BCEA-BD01939DC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062" y="1828800"/>
            <a:ext cx="10255289" cy="404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3204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7705-93D4-4644-B808-E801126A5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228600"/>
            <a:ext cx="10360501" cy="431803"/>
          </a:xfrm>
        </p:spPr>
        <p:txBody>
          <a:bodyPr>
            <a:noAutofit/>
          </a:bodyPr>
          <a:lstStyle/>
          <a:p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Skripta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producer.py </a:t>
            </a:r>
            <a:r>
              <a:rPr lang="sr-Cyrl-RS" sz="2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sr-Latn-RS" sz="2400" dirty="0">
                <a:solidFill>
                  <a:schemeClr val="bg2">
                    <a:lumMod val="75000"/>
                  </a:schemeClr>
                </a:solidFill>
              </a:rPr>
              <a:t>čita podatke sa lokalnog fajl sistema i šalje ih na odgovarajući topic (</a:t>
            </a:r>
            <a:r>
              <a:rPr lang="sr-Latn-RS" sz="2400" i="1" dirty="0">
                <a:solidFill>
                  <a:schemeClr val="bg2">
                    <a:lumMod val="75000"/>
                  </a:schemeClr>
                </a:solidFill>
              </a:rPr>
              <a:t>fcd_topic </a:t>
            </a:r>
            <a:r>
              <a:rPr lang="sr-Latn-RS" sz="2400" dirty="0">
                <a:solidFill>
                  <a:schemeClr val="bg2">
                    <a:lumMod val="75000"/>
                  </a:schemeClr>
                </a:solidFill>
              </a:rPr>
              <a:t>i </a:t>
            </a:r>
            <a:r>
              <a:rPr lang="sr-Latn-RS" sz="2400" i="1" dirty="0">
                <a:solidFill>
                  <a:schemeClr val="bg2">
                    <a:lumMod val="75000"/>
                  </a:schemeClr>
                </a:solidFill>
              </a:rPr>
              <a:t>emission_topic</a:t>
            </a:r>
            <a:r>
              <a:rPr lang="sr-Latn-RS" sz="2400" dirty="0">
                <a:solidFill>
                  <a:schemeClr val="bg2">
                    <a:lumMod val="75000"/>
                  </a:schemeClr>
                </a:solidFill>
              </a:rPr>
              <a:t>)</a:t>
            </a: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036B9-7F0E-4126-A4A3-5CF858B92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3" y="1905000"/>
            <a:ext cx="5943600" cy="4538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055110-AA9C-41EE-9E48-A93D9001B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21" y="1905000"/>
            <a:ext cx="5715000" cy="434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1631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9C44-8C89-4342-9898-B3B682387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304800"/>
            <a:ext cx="10360501" cy="685800"/>
          </a:xfrm>
        </p:spPr>
        <p:txBody>
          <a:bodyPr>
            <a:normAutofit/>
          </a:bodyPr>
          <a:lstStyle/>
          <a:p>
            <a:r>
              <a:rPr lang="sr-Latn-RS" sz="2000" dirty="0">
                <a:solidFill>
                  <a:schemeClr val="bg2">
                    <a:lumMod val="75000"/>
                  </a:schemeClr>
                </a:solidFill>
              </a:rPr>
              <a:t>Sa </a:t>
            </a:r>
            <a:r>
              <a:rPr lang="sr-Latn-RS" sz="2000" i="1" dirty="0">
                <a:solidFill>
                  <a:schemeClr val="bg2">
                    <a:lumMod val="75000"/>
                  </a:schemeClr>
                </a:solidFill>
              </a:rPr>
              <a:t>fcd_topic</a:t>
            </a:r>
            <a:r>
              <a:rPr lang="sr-Latn-RS" sz="2000" dirty="0">
                <a:solidFill>
                  <a:schemeClr val="bg2">
                    <a:lumMod val="75000"/>
                  </a:schemeClr>
                </a:solidFill>
              </a:rPr>
              <a:t>-a se učitavaju podaci, vrši se njihovo grupisanje i agregacija po vremenskim prozorima i račuana se broj jedinstvenih vozila po ulici u svakom intervalu od 10 minuta 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E346E-74EA-4154-B030-631E6B09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2" y="1066800"/>
            <a:ext cx="7377546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1655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9C44-8C89-4342-9898-B3B682387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228600"/>
            <a:ext cx="10360501" cy="762000"/>
          </a:xfrm>
        </p:spPr>
        <p:txBody>
          <a:bodyPr>
            <a:normAutofit fontScale="92500" lnSpcReduction="20000"/>
          </a:bodyPr>
          <a:lstStyle/>
          <a:p>
            <a:r>
              <a:rPr lang="sr-Latn-RS" sz="2000" dirty="0">
                <a:solidFill>
                  <a:schemeClr val="bg2">
                    <a:lumMod val="75000"/>
                  </a:schemeClr>
                </a:solidFill>
              </a:rPr>
              <a:t>Sa </a:t>
            </a:r>
            <a:r>
              <a:rPr lang="sr-Latn-RS" sz="2000" i="1" dirty="0">
                <a:solidFill>
                  <a:schemeClr val="bg2">
                    <a:lumMod val="75000"/>
                  </a:schemeClr>
                </a:solidFill>
              </a:rPr>
              <a:t>emission_topic</a:t>
            </a:r>
            <a:r>
              <a:rPr lang="sr-Latn-RS" sz="2000" dirty="0">
                <a:solidFill>
                  <a:schemeClr val="bg2">
                    <a:lumMod val="75000"/>
                  </a:schemeClr>
                </a:solidFill>
              </a:rPr>
              <a:t>-a se učitavaju podaci, grupišu se po vremenskim prozorima od po 5 minuta i računaju minimalne, maksimalne i prosečne vrednosti emisije zagađivača za ulicu zadatu kao parametar u okviru Dockerfile-a 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9385ED-C15E-4099-B35F-74871FEB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012" y="1371600"/>
            <a:ext cx="3657600" cy="5320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C1BE6-20D9-4D5B-A5AB-3AAA2A7F3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2" y="1371600"/>
            <a:ext cx="7086600" cy="54545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AAF7F2-7E87-4549-A346-C89F9981B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808" y="1371600"/>
            <a:ext cx="2172003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5163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9C44-8C89-4342-9898-B3B682387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304800"/>
            <a:ext cx="10360501" cy="685800"/>
          </a:xfrm>
        </p:spPr>
        <p:txBody>
          <a:bodyPr>
            <a:normAutofit/>
          </a:bodyPr>
          <a:lstStyle/>
          <a:p>
            <a:r>
              <a:rPr lang="sr-Latn-RS" sz="2000" dirty="0">
                <a:solidFill>
                  <a:schemeClr val="bg2">
                    <a:lumMod val="75000"/>
                  </a:schemeClr>
                </a:solidFill>
              </a:rPr>
              <a:t>Rezultati se upisuju u cassandra tabele </a:t>
            </a:r>
            <a:r>
              <a:rPr lang="sr-Latn-RS" sz="2000" i="1" dirty="0">
                <a:solidFill>
                  <a:schemeClr val="bg2">
                    <a:lumMod val="75000"/>
                  </a:schemeClr>
                </a:solidFill>
              </a:rPr>
              <a:t>vehicle_data </a:t>
            </a:r>
            <a:r>
              <a:rPr lang="sr-Latn-RS" sz="2000" dirty="0">
                <a:solidFill>
                  <a:schemeClr val="bg2">
                    <a:lumMod val="75000"/>
                  </a:schemeClr>
                </a:solidFill>
              </a:rPr>
              <a:t>i </a:t>
            </a:r>
            <a:r>
              <a:rPr lang="sr-Latn-RS" sz="2000" i="1" dirty="0">
                <a:solidFill>
                  <a:schemeClr val="bg2">
                    <a:lumMod val="75000"/>
                  </a:schemeClr>
                </a:solidFill>
              </a:rPr>
              <a:t>lane_emission_data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928B2-D9CE-4D34-A6B1-B36DD2DD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89" y="1104723"/>
            <a:ext cx="5010849" cy="5353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0A764-AD07-4302-905D-9E18B988C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938" y="1052181"/>
            <a:ext cx="413442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7008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F81B4-E67E-46D8-8DB0-3A05C4CF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2" y="533400"/>
            <a:ext cx="10360501" cy="542033"/>
          </a:xfrm>
        </p:spPr>
        <p:txBody>
          <a:bodyPr/>
          <a:lstStyle/>
          <a:p>
            <a:r>
              <a:rPr lang="sr-Latn-RS" i="1" dirty="0">
                <a:solidFill>
                  <a:schemeClr val="bg2">
                    <a:lumMod val="75000"/>
                  </a:schemeClr>
                </a:solidFill>
              </a:rPr>
              <a:t>vehicle_lane </a:t>
            </a:r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tabela</a:t>
            </a:r>
            <a:endParaRPr lang="en-US" i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2ECC7-2DD3-4067-AA09-D9905B928E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00" b="27778"/>
          <a:stretch/>
        </p:blipFill>
        <p:spPr>
          <a:xfrm>
            <a:off x="1217612" y="1371600"/>
            <a:ext cx="92964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2772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25DF6-646F-41D0-AA9F-AF74EB51F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319722"/>
            <a:ext cx="10360501" cy="518478"/>
          </a:xfrm>
        </p:spPr>
        <p:txBody>
          <a:bodyPr/>
          <a:lstStyle/>
          <a:p>
            <a:r>
              <a:rPr lang="sr-Latn-RS" i="1" dirty="0">
                <a:solidFill>
                  <a:schemeClr val="bg2">
                    <a:lumMod val="75000"/>
                  </a:schemeClr>
                </a:solidFill>
              </a:rPr>
              <a:t>lane_emission_data </a:t>
            </a:r>
            <a:r>
              <a:rPr lang="sr-Latn-RS" dirty="0">
                <a:solidFill>
                  <a:schemeClr val="bg2">
                    <a:lumMod val="75000"/>
                  </a:schemeClr>
                </a:solidFill>
              </a:rPr>
              <a:t>tabela</a:t>
            </a:r>
            <a:endParaRPr lang="en-US" i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F1B05-71AE-4D38-AAD6-1BBA87557D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75"/>
          <a:stretch/>
        </p:blipFill>
        <p:spPr>
          <a:xfrm>
            <a:off x="1827212" y="1143000"/>
            <a:ext cx="8454655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E6302C-D191-408F-BEFC-49C6F3ADE1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1850092" y="3886200"/>
            <a:ext cx="8454944" cy="231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6389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1227</TotalTime>
  <Words>187</Words>
  <Application>Microsoft Office PowerPoint</Application>
  <PresentationFormat>Custom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Big Data Systems</vt:lpstr>
      <vt:lpstr>Tehnologije korišćene u projektu</vt:lpstr>
      <vt:lpstr>Korišćeni skupovi podataka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Katarina</dc:creator>
  <cp:lastModifiedBy>Katarina</cp:lastModifiedBy>
  <cp:revision>35</cp:revision>
  <dcterms:created xsi:type="dcterms:W3CDTF">2025-01-09T19:34:52Z</dcterms:created>
  <dcterms:modified xsi:type="dcterms:W3CDTF">2025-10-30T00:23:24Z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